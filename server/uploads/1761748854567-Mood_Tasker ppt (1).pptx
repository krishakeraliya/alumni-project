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  <p:ext uri="GoogleSlidesCustomDataVersion2">
      <go:slidesCustomData xmlns:go="http://customooxmlschemas.google.com/" r:id="rId16" roundtripDataSignature="AMtx7mjumzS1N/O2wsM5iAcsTzYbGPfAq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6" Type="http://customschemas.google.com/relationships/presentationmetadata" Target="meta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5" name="Google Shape;17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3" name="Google Shape;18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0" name="Google Shape;19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7" name="Google Shape;19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4" name="Google Shape;20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1" name="Google Shape;21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8" name="Google Shape;21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5" name="Google Shape;22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2" name="Google Shape;23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3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1"/>
          <p:cNvSpPr txBox="1"/>
          <p:nvPr>
            <p:ph type="ctrTitle"/>
          </p:nvPr>
        </p:nvSpPr>
        <p:spPr>
          <a:xfrm>
            <a:off x="1524000" y="1070962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" name="Google Shape;21;p11"/>
          <p:cNvSpPr/>
          <p:nvPr/>
        </p:nvSpPr>
        <p:spPr>
          <a:xfrm>
            <a:off x="27132" y="1066732"/>
            <a:ext cx="978408" cy="484632"/>
          </a:xfrm>
          <a:prstGeom prst="homePlate">
            <a:avLst>
              <a:gd fmla="val 50000" name="adj"/>
            </a:avLst>
          </a:prstGeom>
          <a:solidFill>
            <a:srgbClr val="C00000"/>
          </a:solidFill>
          <a:ln cap="flat" cmpd="sng" w="12700">
            <a:solidFill>
              <a:srgbClr val="78846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cxnSp>
        <p:nvCxnSpPr>
          <p:cNvPr id="22" name="Google Shape;22;p11"/>
          <p:cNvCxnSpPr/>
          <p:nvPr/>
        </p:nvCxnSpPr>
        <p:spPr>
          <a:xfrm>
            <a:off x="978408" y="1296960"/>
            <a:ext cx="11186460" cy="16318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3" name="Google Shape;23;p11"/>
          <p:cNvSpPr/>
          <p:nvPr/>
        </p:nvSpPr>
        <p:spPr>
          <a:xfrm>
            <a:off x="11023134" y="0"/>
            <a:ext cx="1141734" cy="1233082"/>
          </a:xfrm>
          <a:prstGeom prst="ellipse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 cap="flat" cmpd="sng" w="12700">
            <a:solidFill>
              <a:srgbClr val="78846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descr="https://lh7-rt.googleusercontent.com/docsz/AD_4nXfM16tyrBvvXKuvu0YyaEbD5UhvkuagmW8wm2LmVTNN9fDGgWds1PR7GUn68D7_AVXxmqYteiNh7Fa4A4dfxvc-5RwOQ-dbrSpgleNIaJIYlEEB1D3SkFNxRHEGjwUlMPoam_HVASpHzHpeFrNtFys?key=-Q_9pHlqnUmImE8YLMVCx5_-" id="24" name="Google Shape;2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940" y="-5898"/>
            <a:ext cx="1104176" cy="10829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" name="Google Shape;31;p24"/>
          <p:cNvSpPr/>
          <p:nvPr/>
        </p:nvSpPr>
        <p:spPr>
          <a:xfrm>
            <a:off x="27132" y="1070962"/>
            <a:ext cx="978408" cy="484632"/>
          </a:xfrm>
          <a:prstGeom prst="homePlate">
            <a:avLst>
              <a:gd fmla="val 50000" name="adj"/>
            </a:avLst>
          </a:prstGeom>
          <a:solidFill>
            <a:srgbClr val="C00000"/>
          </a:solidFill>
          <a:ln cap="flat" cmpd="sng" w="12700">
            <a:solidFill>
              <a:srgbClr val="78846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cxnSp>
        <p:nvCxnSpPr>
          <p:cNvPr id="32" name="Google Shape;32;p24"/>
          <p:cNvCxnSpPr/>
          <p:nvPr/>
        </p:nvCxnSpPr>
        <p:spPr>
          <a:xfrm>
            <a:off x="978408" y="1296960"/>
            <a:ext cx="11186460" cy="16318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33" name="Google Shape;33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794370" y="0"/>
            <a:ext cx="1242955" cy="12429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7" name="Google Shape;37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2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2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2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2" name="Google Shape;52;p2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8" name="Google Shape;68;p3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5" name="Google Shape;75;p3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6" name="Google Shape;76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32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3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8" name="Google Shape;88;p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0" name="Google Shape;100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3" name="Google Shape;103;p13"/>
          <p:cNvSpPr/>
          <p:nvPr/>
        </p:nvSpPr>
        <p:spPr>
          <a:xfrm>
            <a:off x="27132" y="1070962"/>
            <a:ext cx="978408" cy="484632"/>
          </a:xfrm>
          <a:prstGeom prst="homePlate">
            <a:avLst>
              <a:gd fmla="val 50000" name="adj"/>
            </a:avLst>
          </a:prstGeom>
          <a:solidFill>
            <a:srgbClr val="C00000"/>
          </a:solidFill>
          <a:ln cap="flat" cmpd="sng" w="12700">
            <a:solidFill>
              <a:srgbClr val="78846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cxnSp>
        <p:nvCxnSpPr>
          <p:cNvPr id="104" name="Google Shape;104;p13"/>
          <p:cNvCxnSpPr/>
          <p:nvPr/>
        </p:nvCxnSpPr>
        <p:spPr>
          <a:xfrm>
            <a:off x="978408" y="1296960"/>
            <a:ext cx="11186460" cy="16318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05" name="Google Shape;105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794370" y="0"/>
            <a:ext cx="1456501" cy="1456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4"/>
          <p:cNvSpPr txBox="1"/>
          <p:nvPr>
            <p:ph type="ctrTitle"/>
          </p:nvPr>
        </p:nvSpPr>
        <p:spPr>
          <a:xfrm>
            <a:off x="1524000" y="1070962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1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09" name="Google Shape;109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2" name="Google Shape;112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7132" y="4222"/>
            <a:ext cx="1691811" cy="1073092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4"/>
          <p:cNvSpPr/>
          <p:nvPr/>
        </p:nvSpPr>
        <p:spPr>
          <a:xfrm>
            <a:off x="27132" y="1066732"/>
            <a:ext cx="978408" cy="484632"/>
          </a:xfrm>
          <a:prstGeom prst="homePlate">
            <a:avLst>
              <a:gd fmla="val 50000" name="adj"/>
            </a:avLst>
          </a:prstGeom>
          <a:solidFill>
            <a:srgbClr val="C00000"/>
          </a:solidFill>
          <a:ln cap="flat" cmpd="sng" w="12700">
            <a:solidFill>
              <a:srgbClr val="78846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cxnSp>
        <p:nvCxnSpPr>
          <p:cNvPr id="114" name="Google Shape;114;p14"/>
          <p:cNvCxnSpPr/>
          <p:nvPr/>
        </p:nvCxnSpPr>
        <p:spPr>
          <a:xfrm>
            <a:off x="978408" y="1296960"/>
            <a:ext cx="11186460" cy="16318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5" name="Google Shape;115;p14"/>
          <p:cNvSpPr/>
          <p:nvPr/>
        </p:nvSpPr>
        <p:spPr>
          <a:xfrm>
            <a:off x="11023134" y="0"/>
            <a:ext cx="1141734" cy="1233082"/>
          </a:xfrm>
          <a:prstGeom prst="ellipse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 cap="flat" cmpd="sng" w="12700">
            <a:solidFill>
              <a:srgbClr val="78846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1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9" name="Google Shape;119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1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5" name="Google Shape;125;p1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6" name="Google Shape;126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1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32" name="Google Shape;132;p1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3" name="Google Shape;133;p1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34" name="Google Shape;134;p1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5" name="Google Shape;135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2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50" name="Google Shape;150;p2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51" name="Google Shape;151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2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57" name="Google Shape;157;p2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58" name="Google Shape;158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p22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4" name="Google Shape;164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5" name="Google Shape;165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9" name="Google Shape;169;p2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0" name="Google Shape;170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" name="Google Shape;171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CEFE8">
            <a:alpha val="74509"/>
          </a:srgbClr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/>
        </p:txBody>
      </p:sp>
      <p:sp>
        <p:nvSpPr>
          <p:cNvPr id="12" name="Google Shape;12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/>
        </p:txBody>
      </p:sp>
      <p:sp>
        <p:nvSpPr>
          <p:cNvPr id="13" name="Google Shape;13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/>
        </p:txBody>
      </p:sp>
      <p:sp>
        <p:nvSpPr>
          <p:cNvPr id="14" name="Google Shape;14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CEFE8">
            <a:alpha val="74509"/>
          </a:srgbClr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3" name="Google Shape;93;p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/>
        </p:txBody>
      </p:sp>
      <p:sp>
        <p:nvSpPr>
          <p:cNvPr id="94" name="Google Shape;94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/>
        </p:txBody>
      </p:sp>
      <p:sp>
        <p:nvSpPr>
          <p:cNvPr id="95" name="Google Shape;95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/>
        </p:txBody>
      </p:sp>
      <p:sp>
        <p:nvSpPr>
          <p:cNvPr id="96" name="Google Shape;96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tailwindcss.com/docs" TargetMode="External"/><Relationship Id="rId4" Type="http://schemas.openxmlformats.org/officeDocument/2006/relationships/hyperlink" Target="https://tailwindcss.com/docs" TargetMode="External"/><Relationship Id="rId5" Type="http://schemas.openxmlformats.org/officeDocument/2006/relationships/hyperlink" Target="https://tailwindcss.com/docs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"/>
          <p:cNvSpPr txBox="1"/>
          <p:nvPr>
            <p:ph type="ctrTitle"/>
          </p:nvPr>
        </p:nvSpPr>
        <p:spPr>
          <a:xfrm>
            <a:off x="1524000" y="1584220"/>
            <a:ext cx="9144000" cy="124193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strike="noStrike">
                <a:latin typeface="Times New Roman"/>
                <a:ea typeface="Times New Roman"/>
                <a:cs typeface="Times New Roman"/>
                <a:sym typeface="Times New Roman"/>
              </a:rPr>
              <a:t>Sarvajanik College of Engineering and Technology</a:t>
            </a:r>
            <a:br>
              <a:rPr b="0" i="0" lang="en-US" sz="2800" u="none" strike="noStrike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400" u="none" strike="noStrike">
                <a:latin typeface="Times New Roman"/>
                <a:ea typeface="Times New Roman"/>
                <a:cs typeface="Times New Roman"/>
                <a:sym typeface="Times New Roman"/>
              </a:rPr>
              <a:t>Department Name</a:t>
            </a:r>
            <a:br>
              <a:rPr b="0" i="0" lang="en-US" sz="2400" u="none" strike="noStrike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000" u="none" strike="noStrike">
                <a:latin typeface="Times New Roman"/>
                <a:ea typeface="Times New Roman"/>
                <a:cs typeface="Times New Roman"/>
                <a:sym typeface="Times New Roman"/>
              </a:rPr>
              <a:t>Summer Project/Internship 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8" name="Google Shape;178;p1"/>
          <p:cNvSpPr txBox="1"/>
          <p:nvPr>
            <p:ph idx="1" type="subTitle"/>
          </p:nvPr>
        </p:nvSpPr>
        <p:spPr>
          <a:xfrm>
            <a:off x="251012" y="5076732"/>
            <a:ext cx="6033247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Presented By: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ET22BTIT051[Krisha Keraliya]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ET22BTIT030[Harshil Gajipara]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179" name="Google Shape;179;p1"/>
          <p:cNvSpPr txBox="1"/>
          <p:nvPr/>
        </p:nvSpPr>
        <p:spPr>
          <a:xfrm>
            <a:off x="8993750" y="5944625"/>
            <a:ext cx="3108600" cy="7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Mentor Name:Mitali Desai</a:t>
            </a:r>
            <a:endParaRPr b="0" i="0" sz="24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80" name="Google Shape;180;p1"/>
          <p:cNvSpPr txBox="1"/>
          <p:nvPr/>
        </p:nvSpPr>
        <p:spPr>
          <a:xfrm>
            <a:off x="1524000" y="2744227"/>
            <a:ext cx="9144000" cy="13695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Mood Tasker – A Mood-Based Productivity Web App</a:t>
            </a:r>
            <a:endParaRPr b="1" i="0" sz="2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6" name="Google Shape;186;p2"/>
          <p:cNvSpPr txBox="1"/>
          <p:nvPr>
            <p:ph idx="1" type="body"/>
          </p:nvPr>
        </p:nvSpPr>
        <p:spPr>
          <a:xfrm>
            <a:off x="838200" y="1416351"/>
            <a:ext cx="10515600" cy="47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sz="2050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Mood Tasker is a unique web application developed to enhance productivity by integrating personal mood into task management. It provides a holistic approach to daily planning.</a:t>
            </a:r>
            <a:endParaRPr sz="2050"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b="1" lang="en-US" sz="2200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Why it was created</a:t>
            </a:r>
            <a:endParaRPr b="1" sz="2200">
              <a:latin typeface="Arial"/>
              <a:ea typeface="Arial"/>
              <a:cs typeface="Arial"/>
              <a:sym typeface="Arial"/>
            </a:endParaRPr>
          </a:p>
          <a:p>
            <a:pPr indent="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					</a:t>
            </a:r>
            <a:r>
              <a:rPr lang="en-US" sz="1850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To address common challenges like procrastination and lack of focus, by aligning tasks with your current emotional state.</a:t>
            </a:r>
            <a:endParaRPr sz="1850">
              <a:latin typeface="Arial"/>
              <a:ea typeface="Arial"/>
              <a:cs typeface="Arial"/>
              <a:sym typeface="Arial"/>
            </a:endParaRPr>
          </a:p>
          <a:p>
            <a:pPr indent="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683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Char char="•"/>
            </a:pPr>
            <a:r>
              <a:rPr b="1" lang="en-US" sz="2200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Empowering productivity</a:t>
            </a:r>
            <a:endParaRPr b="1" sz="2200">
              <a:latin typeface="Arial"/>
              <a:ea typeface="Arial"/>
              <a:cs typeface="Arial"/>
              <a:sym typeface="Arial"/>
            </a:endParaRPr>
          </a:p>
          <a:p>
            <a:pPr indent="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					</a:t>
            </a:r>
            <a:r>
              <a:rPr lang="en-US" sz="1850">
                <a:solidFill>
                  <a:srgbClr val="272525"/>
                </a:solidFill>
                <a:latin typeface="Arial"/>
                <a:ea typeface="Arial"/>
                <a:cs typeface="Arial"/>
                <a:sym typeface="Arial"/>
              </a:rPr>
              <a:t>Moving beyond generic to-do lists, Mood Tasker adapts to your inner state, making productivity feel more natural and less overwhelming.</a:t>
            </a:r>
            <a:endParaRPr sz="1850">
              <a:latin typeface="Arial"/>
              <a:ea typeface="Arial"/>
              <a:cs typeface="Arial"/>
              <a:sym typeface="Arial"/>
            </a:endParaRPr>
          </a:p>
          <a:p>
            <a:pPr indent="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Problem Definition</a:t>
            </a:r>
            <a:endParaRPr/>
          </a:p>
        </p:txBody>
      </p:sp>
      <p:sp>
        <p:nvSpPr>
          <p:cNvPr id="193" name="Google Shape;193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Cambria"/>
              <a:buChar char="•"/>
            </a:pPr>
            <a:r>
              <a:rPr lang="en-US"/>
              <a:t>Most traditional productivity tools ignore a user’s mental state.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Cambria"/>
              <a:buChar char="•"/>
            </a:pPr>
            <a:r>
              <a:rPr lang="en-US"/>
              <a:t>Stress, burnout, or demotivation significantly affect task execution.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Cambria"/>
              <a:buChar char="•"/>
            </a:pPr>
            <a:r>
              <a:rPr lang="en-US"/>
              <a:t>There is a notable lack of tools that effectively adapt to mood-driven productivity.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Cambria"/>
              <a:buChar char="•"/>
            </a:pPr>
            <a:r>
              <a:rPr lang="en-US"/>
              <a:t>A more human-centered, adaptive task manager is needed to overcome these limitations.</a:t>
            </a:r>
            <a:endParaRPr/>
          </a:p>
          <a:p>
            <a:pPr indent="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194" name="Google Shape;194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Motivation</a:t>
            </a:r>
            <a:endParaRPr/>
          </a:p>
        </p:txBody>
      </p:sp>
      <p:sp>
        <p:nvSpPr>
          <p:cNvPr id="200" name="Google Shape;200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The primary motivation behind selecting this problem was to provide a solution to the productivity paradox, where current tools do not account for a user's emotional state.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Existing work/methods often lead to stress, burnout, and demotivation because they don't adjust to the user's emotional well-being.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Mood Tasker was created to overcome these limitations by offering a personalized approach that fosters sustainable productivity.</a:t>
            </a:r>
            <a:endParaRPr/>
          </a:p>
          <a:p>
            <a:pPr indent="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201" name="Google Shape;201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Methodology</a:t>
            </a:r>
            <a:endParaRPr/>
          </a:p>
        </p:txBody>
      </p:sp>
      <p:sp>
        <p:nvSpPr>
          <p:cNvPr id="207" name="Google Shape;207;p5"/>
          <p:cNvSpPr txBox="1"/>
          <p:nvPr>
            <p:ph idx="1" type="body"/>
          </p:nvPr>
        </p:nvSpPr>
        <p:spPr>
          <a:xfrm>
            <a:off x="838200" y="1562275"/>
            <a:ext cx="11353800" cy="52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US" sz="1500">
                <a:latin typeface="Arial"/>
                <a:ea typeface="Arial"/>
                <a:cs typeface="Arial"/>
                <a:sym typeface="Arial"/>
              </a:rPr>
              <a:t>Mood Tasker utilizes an adaptive solution approach, ensuring tasks align with the user's emotional state for optimal performance and well-being.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b="1" lang="en-US" sz="1500">
                <a:latin typeface="Arial"/>
                <a:ea typeface="Arial"/>
                <a:cs typeface="Arial"/>
                <a:sym typeface="Arial"/>
              </a:rPr>
              <a:t>System Flow:</a:t>
            </a:r>
            <a:r>
              <a:rPr lang="en-US" sz="1500">
                <a:latin typeface="Arial"/>
                <a:ea typeface="Arial"/>
                <a:cs typeface="Arial"/>
                <a:sym typeface="Arial"/>
              </a:rPr>
              <a:t> Mood Tasker guides users through a seamless workflow.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US" sz="1500">
                <a:latin typeface="Arial"/>
                <a:ea typeface="Arial"/>
                <a:cs typeface="Arial"/>
                <a:sym typeface="Arial"/>
              </a:rPr>
              <a:t>1. Select Mood:</a:t>
            </a:r>
            <a:br>
              <a:rPr lang="en-US" sz="1500">
                <a:latin typeface="Arial"/>
                <a:ea typeface="Arial"/>
                <a:cs typeface="Arial"/>
                <a:sym typeface="Arial"/>
              </a:rPr>
            </a:br>
            <a:r>
              <a:rPr lang="en-US" sz="1500">
                <a:latin typeface="Arial"/>
                <a:ea typeface="Arial"/>
                <a:cs typeface="Arial"/>
                <a:sym typeface="Arial"/>
              </a:rPr>
              <a:t> User chooses their current emotional state (e.g., Relaxed, Stressed, Happy, Okay).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US" sz="1500">
                <a:latin typeface="Arial"/>
                <a:ea typeface="Arial"/>
                <a:cs typeface="Arial"/>
                <a:sym typeface="Arial"/>
              </a:rPr>
              <a:t>2. Enter Main Task:</a:t>
            </a:r>
            <a:br>
              <a:rPr lang="en-US" sz="1500">
                <a:latin typeface="Arial"/>
                <a:ea typeface="Arial"/>
                <a:cs typeface="Arial"/>
                <a:sym typeface="Arial"/>
              </a:rPr>
            </a:br>
            <a:r>
              <a:rPr lang="en-US" sz="1500">
                <a:latin typeface="Arial"/>
                <a:ea typeface="Arial"/>
                <a:cs typeface="Arial"/>
                <a:sym typeface="Arial"/>
              </a:rPr>
              <a:t> The user defines the primary task for the session.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US" sz="1500">
                <a:latin typeface="Arial"/>
                <a:ea typeface="Arial"/>
                <a:cs typeface="Arial"/>
                <a:sym typeface="Arial"/>
              </a:rPr>
              <a:t>3. Take Breaks:</a:t>
            </a:r>
            <a:br>
              <a:rPr lang="en-US" sz="1500">
                <a:latin typeface="Arial"/>
                <a:ea typeface="Arial"/>
                <a:cs typeface="Arial"/>
                <a:sym typeface="Arial"/>
              </a:rPr>
            </a:br>
            <a:r>
              <a:rPr lang="en-US" sz="1500">
                <a:latin typeface="Arial"/>
                <a:ea typeface="Arial"/>
                <a:cs typeface="Arial"/>
                <a:sym typeface="Arial"/>
              </a:rPr>
              <a:t> Optional mood-based breaks with integrated timers (5 or 10 minutes) are offered. Suggestions for breaks include breathing exercises, listening to music, or light stretching.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US" sz="1500">
                <a:latin typeface="Arial"/>
                <a:ea typeface="Arial"/>
                <a:cs typeface="Arial"/>
                <a:sym typeface="Arial"/>
              </a:rPr>
              <a:t>4. Save Status:</a:t>
            </a:r>
            <a:br>
              <a:rPr lang="en-US" sz="1500">
                <a:latin typeface="Arial"/>
                <a:ea typeface="Arial"/>
                <a:cs typeface="Arial"/>
                <a:sym typeface="Arial"/>
              </a:rPr>
            </a:br>
            <a:r>
              <a:rPr lang="en-US" sz="1500">
                <a:latin typeface="Arial"/>
                <a:ea typeface="Arial"/>
                <a:cs typeface="Arial"/>
                <a:sym typeface="Arial"/>
              </a:rPr>
              <a:t> Task completion status is recorded.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US" sz="1500">
                <a:latin typeface="Arial"/>
                <a:ea typeface="Arial"/>
                <a:cs typeface="Arial"/>
                <a:sym typeface="Arial"/>
              </a:rPr>
              <a:t>5. Weekly Planner:</a:t>
            </a:r>
            <a:br>
              <a:rPr lang="en-US" sz="1500">
                <a:latin typeface="Arial"/>
                <a:ea typeface="Arial"/>
                <a:cs typeface="Arial"/>
                <a:sym typeface="Arial"/>
              </a:rPr>
            </a:br>
            <a:r>
              <a:rPr lang="en-US" sz="1500">
                <a:latin typeface="Arial"/>
                <a:ea typeface="Arial"/>
                <a:cs typeface="Arial"/>
                <a:sym typeface="Arial"/>
              </a:rPr>
              <a:t> Users can organize tasks for the entire week, adding and managing tasks day-wise.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US" sz="1500">
                <a:latin typeface="Arial"/>
                <a:ea typeface="Arial"/>
                <a:cs typeface="Arial"/>
                <a:sym typeface="Arial"/>
              </a:rPr>
              <a:t>6. Summary &amp; Revision:</a:t>
            </a:r>
            <a:br>
              <a:rPr lang="en-US" sz="1500">
                <a:latin typeface="Arial"/>
                <a:ea typeface="Arial"/>
                <a:cs typeface="Arial"/>
                <a:sym typeface="Arial"/>
              </a:rPr>
            </a:br>
            <a:r>
              <a:rPr lang="en-US" sz="1500">
                <a:latin typeface="Arial"/>
                <a:ea typeface="Arial"/>
                <a:cs typeface="Arial"/>
                <a:sym typeface="Arial"/>
              </a:rPr>
              <a:t> Users can review progress and receive spaced repetition reminders for revision.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-US" sz="1500">
                <a:latin typeface="Arial"/>
                <a:ea typeface="Arial"/>
                <a:cs typeface="Arial"/>
                <a:sym typeface="Arial"/>
              </a:rPr>
              <a:t>Adaptive Interface:</a:t>
            </a:r>
            <a:r>
              <a:rPr lang="en-US" sz="1500">
                <a:latin typeface="Arial"/>
                <a:ea typeface="Arial"/>
                <a:cs typeface="Arial"/>
                <a:sym typeface="Arial"/>
              </a:rPr>
              <a:t> The colors, layout, and reminders within the app adjust based on the selected mood, optimizing user focus.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-US" sz="1500">
                <a:latin typeface="Arial"/>
                <a:ea typeface="Arial"/>
                <a:cs typeface="Arial"/>
                <a:sym typeface="Arial"/>
              </a:rPr>
              <a:t>Data Storage:</a:t>
            </a:r>
            <a:r>
              <a:rPr lang="en-US" sz="1500">
                <a:latin typeface="Arial"/>
                <a:ea typeface="Arial"/>
                <a:cs typeface="Arial"/>
                <a:sym typeface="Arial"/>
              </a:rPr>
              <a:t> Task data, including mood and completion date, is saved locally</a:t>
            </a:r>
            <a:endParaRPr sz="15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Technologies Learned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4" name="Google Shape;214;p6"/>
          <p:cNvSpPr txBox="1"/>
          <p:nvPr>
            <p:ph idx="1" type="body"/>
          </p:nvPr>
        </p:nvSpPr>
        <p:spPr>
          <a:xfrm>
            <a:off x="838200" y="1690700"/>
            <a:ext cx="11353800" cy="556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en-US" sz="1500">
                <a:latin typeface="Arial"/>
                <a:ea typeface="Arial"/>
                <a:cs typeface="Arial"/>
                <a:sym typeface="Arial"/>
              </a:rPr>
              <a:t>ReactJS</a:t>
            </a:r>
            <a:r>
              <a:rPr lang="en-US" sz="1500">
                <a:latin typeface="Arial"/>
                <a:ea typeface="Arial"/>
                <a:cs typeface="Arial"/>
                <a:sym typeface="Arial"/>
              </a:rPr>
              <a:t>: Used for building the app's frontend with reusable components like Mood Selector, Task Manager, and Weekly Tracker. Gained hands-on experience in handling state, props, and hooks.</a:t>
            </a:r>
            <a:br>
              <a:rPr lang="en-US" sz="1500">
                <a:latin typeface="Arial"/>
                <a:ea typeface="Arial"/>
                <a:cs typeface="Arial"/>
                <a:sym typeface="Arial"/>
              </a:rPr>
            </a:b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en-US" sz="1500">
                <a:latin typeface="Arial"/>
                <a:ea typeface="Arial"/>
                <a:cs typeface="Arial"/>
                <a:sym typeface="Arial"/>
              </a:rPr>
              <a:t>Tailwind CSS</a:t>
            </a:r>
            <a:r>
              <a:rPr lang="en-US" sz="1500">
                <a:latin typeface="Arial"/>
                <a:ea typeface="Arial"/>
                <a:cs typeface="Arial"/>
                <a:sym typeface="Arial"/>
              </a:rPr>
              <a:t>: Helped design a clean, responsive, and modern UI using utility-first CSS classes. Improved styling speed and layout consistency.</a:t>
            </a:r>
            <a:br>
              <a:rPr lang="en-US" sz="1500">
                <a:latin typeface="Arial"/>
                <a:ea typeface="Arial"/>
                <a:cs typeface="Arial"/>
                <a:sym typeface="Arial"/>
              </a:rPr>
            </a:b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en-US" sz="1500">
                <a:latin typeface="Arial"/>
                <a:ea typeface="Arial"/>
                <a:cs typeface="Arial"/>
                <a:sym typeface="Arial"/>
              </a:rPr>
              <a:t>Vite</a:t>
            </a:r>
            <a:r>
              <a:rPr lang="en-US" sz="1500">
                <a:latin typeface="Arial"/>
                <a:ea typeface="Arial"/>
                <a:cs typeface="Arial"/>
                <a:sym typeface="Arial"/>
              </a:rPr>
              <a:t>: Used as the project build tool for fast development, instant reloads, and efficient performance compared to traditional setups.</a:t>
            </a:r>
            <a:br>
              <a:rPr lang="en-US" sz="1500">
                <a:latin typeface="Arial"/>
                <a:ea typeface="Arial"/>
                <a:cs typeface="Arial"/>
                <a:sym typeface="Arial"/>
              </a:rPr>
            </a:b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en-US" sz="1500">
                <a:latin typeface="Arial"/>
                <a:ea typeface="Arial"/>
                <a:cs typeface="Arial"/>
                <a:sym typeface="Arial"/>
              </a:rPr>
              <a:t>LocalStorage</a:t>
            </a:r>
            <a:r>
              <a:rPr lang="en-US" sz="1500">
                <a:latin typeface="Arial"/>
                <a:ea typeface="Arial"/>
                <a:cs typeface="Arial"/>
                <a:sym typeface="Arial"/>
              </a:rPr>
              <a:t>: Implemented to store user data like mood entries and tasks without a backend. Learned to work with JSON, data persistence, and session handling.</a:t>
            </a:r>
            <a:br>
              <a:rPr lang="en-US" sz="1500">
                <a:latin typeface="Arial"/>
                <a:ea typeface="Arial"/>
                <a:cs typeface="Arial"/>
                <a:sym typeface="Arial"/>
              </a:rPr>
            </a:b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en-US" sz="1500">
                <a:latin typeface="Arial"/>
                <a:ea typeface="Arial"/>
                <a:cs typeface="Arial"/>
                <a:sym typeface="Arial"/>
              </a:rPr>
              <a:t>JavaScript ES6+</a:t>
            </a:r>
            <a:r>
              <a:rPr lang="en-US" sz="1500">
                <a:latin typeface="Arial"/>
                <a:ea typeface="Arial"/>
                <a:cs typeface="Arial"/>
                <a:sym typeface="Arial"/>
              </a:rPr>
              <a:t>: Improved logic writing and learned modern JavaScript features while handling DOM interactions and conditional rendering.</a:t>
            </a:r>
            <a:br>
              <a:rPr lang="en-US" sz="1500">
                <a:latin typeface="Arial"/>
                <a:ea typeface="Arial"/>
                <a:cs typeface="Arial"/>
                <a:sym typeface="Arial"/>
              </a:rPr>
            </a:b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en-US" sz="1500">
                <a:latin typeface="Arial"/>
                <a:ea typeface="Arial"/>
                <a:cs typeface="Arial"/>
                <a:sym typeface="Arial"/>
              </a:rPr>
              <a:t>Git &amp; GitHub</a:t>
            </a:r>
            <a:r>
              <a:rPr lang="en-US" sz="1500">
                <a:latin typeface="Arial"/>
                <a:ea typeface="Arial"/>
                <a:cs typeface="Arial"/>
                <a:sym typeface="Arial"/>
              </a:rPr>
              <a:t>: Used for version control and to host the complete project repository online. Learned how to push commits, manage branches, and collaborate.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0" lvl="0" marL="228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300"/>
          </a:p>
        </p:txBody>
      </p:sp>
      <p:sp>
        <p:nvSpPr>
          <p:cNvPr id="215" name="Google Shape;215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7"/>
          <p:cNvSpPr txBox="1"/>
          <p:nvPr>
            <p:ph type="title"/>
          </p:nvPr>
        </p:nvSpPr>
        <p:spPr>
          <a:xfrm>
            <a:off x="838200" y="242294"/>
            <a:ext cx="10515600" cy="9587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Results and Implementation </a:t>
            </a:r>
            <a:b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(or Working Demo)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1" name="Google Shape;221;p7"/>
          <p:cNvSpPr txBox="1"/>
          <p:nvPr>
            <p:ph idx="1" type="body"/>
          </p:nvPr>
        </p:nvSpPr>
        <p:spPr>
          <a:xfrm>
            <a:off x="773500" y="1731425"/>
            <a:ext cx="10515600" cy="48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2100"/>
              <a:t>Mood-Adaptive Task Management:</a:t>
            </a:r>
            <a:r>
              <a:rPr lang="en-US" sz="2100"/>
              <a:t> The application successfully adapts its interface and suggestions based on the user's selected mood, ensuring tasks align with emotional state.</a:t>
            </a:r>
            <a:endParaRPr sz="21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2100"/>
              <a:t>Enhanced Productivity through Breaks:</a:t>
            </a:r>
            <a:r>
              <a:rPr lang="en-US" sz="2100"/>
              <a:t> Integrated mood-based breaks with timers help users refresh their minds and maintain sustained productivity.</a:t>
            </a:r>
            <a:endParaRPr sz="21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2100"/>
              <a:t>Organized Weekly Planning:</a:t>
            </a:r>
            <a:r>
              <a:rPr lang="en-US" sz="2100"/>
              <a:t> Users can effectively plan and manage their tasks on a day-wise basis, with data persisting locally.</a:t>
            </a:r>
            <a:endParaRPr sz="21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2100"/>
              <a:t>Productivity Insights:</a:t>
            </a:r>
            <a:r>
              <a:rPr lang="en-US" sz="2100"/>
              <a:t> The system provides a daily summary of completed tasks with associated moods and visual insights into productivity patterns (e.g., tasks completed per day, tasks by mood).</a:t>
            </a:r>
            <a:endParaRPr sz="21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2100"/>
              <a:t>Effective Revision Reminders:</a:t>
            </a:r>
            <a:r>
              <a:rPr lang="en-US" sz="2100"/>
              <a:t> The spaced repetition technique is implemented to provide timely revision reminders for completed tasks (after 1, 3, and 7 days), automatically detected from completion history.</a:t>
            </a:r>
            <a:endParaRPr sz="21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100"/>
          </a:p>
        </p:txBody>
      </p:sp>
      <p:sp>
        <p:nvSpPr>
          <p:cNvPr id="222" name="Google Shape;222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8"/>
          <p:cNvSpPr txBox="1"/>
          <p:nvPr>
            <p:ph type="title"/>
          </p:nvPr>
        </p:nvSpPr>
        <p:spPr>
          <a:xfrm>
            <a:off x="838200" y="339438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Timeline Chart for Project Work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8" name="Google Shape;228;p8"/>
          <p:cNvSpPr txBox="1"/>
          <p:nvPr>
            <p:ph idx="1" type="body"/>
          </p:nvPr>
        </p:nvSpPr>
        <p:spPr>
          <a:xfrm>
            <a:off x="997875" y="1665150"/>
            <a:ext cx="11117400" cy="485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Week 1: Finalized idea and UI planning</a:t>
            </a:r>
            <a:br>
              <a:rPr b="1" lang="en-US" sz="2000">
                <a:latin typeface="Arial"/>
                <a:ea typeface="Arial"/>
                <a:cs typeface="Arial"/>
                <a:sym typeface="Arial"/>
              </a:rPr>
            </a:br>
            <a:endParaRPr b="1"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Week 2: Built components and layout</a:t>
            </a:r>
            <a:br>
              <a:rPr b="1" lang="en-US" sz="2000">
                <a:latin typeface="Arial"/>
                <a:ea typeface="Arial"/>
                <a:cs typeface="Arial"/>
                <a:sym typeface="Arial"/>
              </a:rPr>
            </a:br>
            <a:endParaRPr b="1"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Week 3: Implemented functionality</a:t>
            </a:r>
            <a:br>
              <a:rPr b="1" lang="en-US" sz="2000">
                <a:latin typeface="Arial"/>
                <a:ea typeface="Arial"/>
                <a:cs typeface="Arial"/>
                <a:sym typeface="Arial"/>
              </a:rPr>
            </a:br>
            <a:endParaRPr b="1"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Week 4: Testing, improvements and polish.</a:t>
            </a:r>
            <a:endParaRPr b="1"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5" name="Google Shape;235;p9"/>
          <p:cNvSpPr txBox="1"/>
          <p:nvPr>
            <p:ph idx="1" type="body"/>
          </p:nvPr>
        </p:nvSpPr>
        <p:spPr>
          <a:xfrm>
            <a:off x="921001" y="1847850"/>
            <a:ext cx="111624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ReactJS Documentation</a:t>
            </a:r>
            <a:r>
              <a:rPr lang="en-US" sz="2200">
                <a:latin typeface="Arial"/>
                <a:ea typeface="Arial"/>
                <a:cs typeface="Arial"/>
                <a:sym typeface="Arial"/>
              </a:rPr>
              <a:t> – https://reactjs.org</a:t>
            </a:r>
            <a:br>
              <a:rPr lang="en-US" sz="2200">
                <a:latin typeface="Arial"/>
                <a:ea typeface="Arial"/>
                <a:cs typeface="Arial"/>
                <a:sym typeface="Arial"/>
              </a:rPr>
            </a:b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Tailwind CSS Docs</a:t>
            </a:r>
            <a:r>
              <a:rPr lang="en-US" sz="2200">
                <a:latin typeface="Arial"/>
                <a:ea typeface="Arial"/>
                <a:cs typeface="Arial"/>
                <a:sym typeface="Arial"/>
              </a:rPr>
              <a:t> –</a:t>
            </a:r>
            <a:r>
              <a:rPr lang="en-US" sz="2200">
                <a:solidFill>
                  <a:schemeClr val="hlink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3"/>
              </a:rPr>
              <a:t> </a:t>
            </a:r>
            <a:r>
              <a:rPr lang="en-US" sz="22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https://tailwindcss.com/docs</a:t>
            </a:r>
            <a:br>
              <a:rPr lang="en-US" sz="22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</a:br>
            <a:endParaRPr sz="2200" u="sng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Vite Official Site</a:t>
            </a:r>
            <a:r>
              <a:rPr lang="en-US" sz="2200">
                <a:latin typeface="Arial"/>
                <a:ea typeface="Arial"/>
                <a:cs typeface="Arial"/>
                <a:sym typeface="Arial"/>
              </a:rPr>
              <a:t> – https://vitejs.dev</a:t>
            </a:r>
            <a:br>
              <a:rPr lang="en-US" sz="2200">
                <a:latin typeface="Arial"/>
                <a:ea typeface="Arial"/>
                <a:cs typeface="Arial"/>
                <a:sym typeface="Arial"/>
              </a:rPr>
            </a:b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undraw.co</a:t>
            </a:r>
            <a:r>
              <a:rPr lang="en-US" sz="2200">
                <a:latin typeface="Arial"/>
                <a:ea typeface="Arial"/>
                <a:cs typeface="Arial"/>
                <a:sym typeface="Arial"/>
              </a:rPr>
              <a:t> – for free illustrations</a:t>
            </a:r>
            <a:br>
              <a:rPr lang="en-US" sz="2200">
                <a:latin typeface="Arial"/>
                <a:ea typeface="Arial"/>
                <a:cs typeface="Arial"/>
                <a:sym typeface="Arial"/>
              </a:rPr>
            </a:b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Freepik &amp; Flaticon</a:t>
            </a:r>
            <a:r>
              <a:rPr lang="en-US" sz="2200">
                <a:latin typeface="Arial"/>
                <a:ea typeface="Arial"/>
                <a:cs typeface="Arial"/>
                <a:sym typeface="Arial"/>
              </a:rPr>
              <a:t> – for icons and emojis</a:t>
            </a:r>
            <a:br>
              <a:rPr lang="en-US" sz="2200">
                <a:latin typeface="Arial"/>
                <a:ea typeface="Arial"/>
                <a:cs typeface="Arial"/>
                <a:sym typeface="Arial"/>
              </a:rPr>
            </a:b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MDN Web Docs</a:t>
            </a:r>
            <a:r>
              <a:rPr lang="en-US" sz="2200">
                <a:latin typeface="Arial"/>
                <a:ea typeface="Arial"/>
                <a:cs typeface="Arial"/>
                <a:sym typeface="Arial"/>
              </a:rPr>
              <a:t> – for general web development help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236" name="Google Shape;236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Paper">
      <a:dk1>
        <a:srgbClr val="000000"/>
      </a:dk1>
      <a:lt1>
        <a:srgbClr val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1_Office Theme">
  <a:themeElements>
    <a:clrScheme name="Paper">
      <a:dk1>
        <a:srgbClr val="000000"/>
      </a:dk1>
      <a:lt1>
        <a:srgbClr val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2024-08-22T05:23:39Z</dcterms:created>
  <dc:creator>admin</dc:creator>
</cp:coreProperties>
</file>